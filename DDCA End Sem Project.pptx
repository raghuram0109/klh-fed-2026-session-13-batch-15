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D9488"/>
                </a:solidFill>
              </a:defRPr>
            </a:pPr>
            <a:r>
              <a:rPr dirty="0"/>
              <a:t>8-Bit Load-Enable Register</a:t>
            </a:r>
            <a:br>
              <a:rPr dirty="0"/>
            </a:br>
            <a:r>
              <a:rPr dirty="0"/>
              <a:t>Using D Flip-Flops</a:t>
            </a:r>
          </a:p>
          <a:p>
            <a:pPr algn="l">
              <a:defRPr sz="2000">
                <a:solidFill>
                  <a:srgbClr val="9CA3AF"/>
                </a:solidFill>
              </a:defRPr>
            </a:pPr>
            <a:r>
              <a:rPr lang="en-US" dirty="0"/>
              <a:t>Muddana Raghuram Chowdary – 2620040111</a:t>
            </a:r>
          </a:p>
          <a:p>
            <a:pPr algn="l">
              <a:defRPr sz="2000">
                <a:solidFill>
                  <a:srgbClr val="9CA3AF"/>
                </a:solidFill>
              </a:defRPr>
            </a:pPr>
            <a:r>
              <a:rPr lang="en-US" dirty="0"/>
              <a:t>M Sri Akhil Chowdary – 2620040110</a:t>
            </a:r>
          </a:p>
          <a:p>
            <a:pPr algn="l">
              <a:defRPr sz="2000">
                <a:solidFill>
                  <a:srgbClr val="9CA3AF"/>
                </a:solidFill>
              </a:defRPr>
            </a:pPr>
            <a:r>
              <a:rPr lang="en-US" dirty="0"/>
              <a:t>R. Chandra Shekar - 2620040113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32A569-F766-F48D-ADBE-474E17E14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54" y="646029"/>
            <a:ext cx="11332292" cy="556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6730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E1793-B11F-72F7-C2DA-E0BC8C8BB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689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D9488"/>
                </a:solidFill>
                <a:latin typeface="+mn-lt"/>
                <a:ea typeface="+mn-ea"/>
                <a:cs typeface="+mn-cs"/>
              </a:rPr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1ED4E-E1FA-37FC-2E74-A60FD3B2C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0692581" cy="4525963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Bit-by-Bit Isolation:</a:t>
            </a:r>
            <a:r>
              <a:rPr lang="en-US" dirty="0">
                <a:solidFill>
                  <a:schemeClr val="bg1"/>
                </a:solidFill>
              </a:rPr>
              <a:t> The register separates an 8-bit byte into 8 single bits. Each individual bit is controlled by one MUX and stored by one D Flip-Flop.</a:t>
            </a:r>
          </a:p>
          <a:p>
            <a:pPr marL="0" lv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lvl="0"/>
            <a:r>
              <a:rPr lang="en-US" b="1" dirty="0">
                <a:solidFill>
                  <a:schemeClr val="bg1"/>
                </a:solidFill>
              </a:rPr>
              <a:t>The Control Gate (MUX):</a:t>
            </a:r>
            <a:r>
              <a:rPr lang="en-US" dirty="0">
                <a:solidFill>
                  <a:schemeClr val="bg1"/>
                </a:solidFill>
              </a:rPr>
              <a:t> The 2-to-1 Multiplexer acts as a switch in front of the Flip-Flop. It uses the </a:t>
            </a:r>
            <a:r>
              <a:rPr lang="en-US" b="1" dirty="0">
                <a:solidFill>
                  <a:schemeClr val="bg1"/>
                </a:solidFill>
              </a:rPr>
              <a:t>Load</a:t>
            </a:r>
            <a:r>
              <a:rPr lang="en-US" dirty="0">
                <a:solidFill>
                  <a:schemeClr val="bg1"/>
                </a:solidFill>
              </a:rPr>
              <a:t> signal to choose between two paths: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When Load = 0 (Hold):</a:t>
            </a:r>
            <a:r>
              <a:rPr lang="en-US" dirty="0">
                <a:solidFill>
                  <a:schemeClr val="bg1"/>
                </a:solidFill>
              </a:rPr>
              <a:t> The MUX selects the Flip-Flop’s own current output (\(Q\)) and routes it back into its input (\(D\)). The data endlessly loops and stays frozen.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When Load = 1 (Load):</a:t>
            </a:r>
            <a:r>
              <a:rPr lang="en-US" dirty="0">
                <a:solidFill>
                  <a:schemeClr val="bg1"/>
                </a:solidFill>
              </a:rPr>
              <a:t> The MUX opens the gate to the external input wire (\(Data\_In\)), dropping the old data and preparing to receive the new bit.</a:t>
            </a:r>
          </a:p>
          <a:p>
            <a:pPr marL="457200" lvl="1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lvl="0"/>
            <a:r>
              <a:rPr lang="en-US" b="1" dirty="0">
                <a:solidFill>
                  <a:schemeClr val="bg1"/>
                </a:solidFill>
              </a:rPr>
              <a:t>Synchronized Storage (Clock):</a:t>
            </a:r>
            <a:r>
              <a:rPr lang="en-US" dirty="0">
                <a:solidFill>
                  <a:schemeClr val="bg1"/>
                </a:solidFill>
              </a:rPr>
              <a:t> When the clock ticks (Rising Edge), all 8 D Flip-Flops read their inputs at the exact same fraction of a second. This ensures the entire byte updates perfectly in sync.</a:t>
            </a:r>
          </a:p>
          <a:p>
            <a:pPr marL="0" lv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lvl="0"/>
            <a:r>
              <a:rPr lang="en-US" b="1" dirty="0">
                <a:solidFill>
                  <a:schemeClr val="bg1"/>
                </a:solidFill>
              </a:rPr>
              <a:t>Master Flush (Reset):</a:t>
            </a:r>
            <a:r>
              <a:rPr lang="en-US" dirty="0">
                <a:solidFill>
                  <a:schemeClr val="bg1"/>
                </a:solidFill>
              </a:rPr>
              <a:t> The asynchronous reset line bypasses the MUX and the Clock entirely. Activating it instantly forces all 8 outputs to </a:t>
            </a:r>
            <a:r>
              <a:rPr lang="en-US" sz="2400" dirty="0">
                <a:solidFill>
                  <a:schemeClr val="bg1"/>
                </a:solidFill>
              </a:rPr>
              <a:t>00000000.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33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System Components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D9488"/>
                </a:solidFill>
              </a:rPr>
              <a:t>•  Core Structure: </a:t>
            </a:r>
            <a:r>
              <a:rPr sz="1800">
                <a:solidFill>
                  <a:srgbClr val="FFFFFF"/>
                </a:solidFill>
              </a:rPr>
              <a:t>8 individual D Flip-Flops side by side. Each acts as a 1-bit memory cell to collectively form a unified 8-bit storage register (Bit 0 [LSB] to Bit 7 [MSB]).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D9488"/>
                </a:solidFill>
              </a:rPr>
              <a:t>•  Gating Multiplexers: </a:t>
            </a:r>
            <a:r>
              <a:rPr sz="1800">
                <a:solidFill>
                  <a:srgbClr val="FFFFFF"/>
                </a:solidFill>
              </a:rPr>
              <a:t>8 individual 2-to-1 Multiplexers (MUX) with 'Data Bits: 1' and 'Select Bits: 1' placed directly upstream of each flip-flop's D input port.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D9488"/>
                </a:solidFill>
              </a:rPr>
              <a:t>•  Synchronous Clock Bus: </a:t>
            </a:r>
            <a:r>
              <a:rPr sz="1800">
                <a:solidFill>
                  <a:srgbClr val="FFFFFF"/>
                </a:solidFill>
              </a:rPr>
              <a:t>A single global clock line shared symmetrically across all 8 flip-flop CLK pins to ensure unified, race-free parallel data updates.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D9488"/>
                </a:solidFill>
              </a:rPr>
              <a:t>•  Asynchronous Control Line: </a:t>
            </a:r>
            <a:r>
              <a:rPr sz="1800">
                <a:solidFill>
                  <a:srgbClr val="FFFFFF"/>
                </a:solidFill>
              </a:rPr>
              <a:t>A shared global master Reset wire tied to the asynchronous Clear pin of all 8 components for immediate state flushing.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rPr dirty="0"/>
              <a:t>Circuit Functional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1">
                <a:solidFill>
                  <a:srgbClr val="0D9488"/>
                </a:solidFill>
              </a:rPr>
              <a:t>►  HOLD MODE (Load = 0):
</a:t>
            </a:r>
            <a:r>
              <a:rPr sz="1600">
                <a:solidFill>
                  <a:srgbClr val="FFFFFF"/>
                </a:solidFill>
              </a:rPr>
              <a:t>The 2-to-1 MUX selects Input 0, which is hardwired to its corresponding flip-flop's own current output (Q). This forms an active feedback loop. On every clock tick, the cell reads and overwrites its own state, ignoring changes on the main data input bus.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0D9488"/>
                </a:solidFill>
              </a:rPr>
              <a:t>►  LOAD MODE (Load = 1):
</a:t>
            </a:r>
            <a:r>
              <a:rPr sz="1600">
                <a:solidFill>
                  <a:srgbClr val="FFFFFF"/>
                </a:solidFill>
              </a:rPr>
              <a:t>The MUX selects Input 1, breaking the feedback loop. This passes the external Data_In bit straight into the D input port. On the next rising edge of the clock signal, the newly applied external byte is instantly written to the register memory.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0D9488"/>
                </a:solidFill>
              </a:rPr>
              <a:t>►  ASYNCHRONOUS RESET (Reset = 1):
</a:t>
            </a:r>
            <a:r>
              <a:rPr sz="1600">
                <a:solidFill>
                  <a:srgbClr val="FFFFFF"/>
                </a:solidFill>
              </a:rPr>
              <a:t>Flipping the reset switch instantly overrides all input conditions, the MUX selections, and clock cycles, dropping all stored outputs immediately to 00000000.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Operational States &amp; Variable Combinations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9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9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9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Reset Pin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Load Pin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Clock (CLK)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Input Bus (Data_In)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Output Bus (Data_Out)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Active Mode Description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XXXXXXXX (Any)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00000000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Asynchronous Reset: Wipes memory instantly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↑ (Rising Edge)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10101010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Previous State (Unchanged)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Hold State: MUX recycles current Q value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↑ (Rising Edge)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10101010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10101010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Load State: External byte written to memory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 or 1 (Static)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11110000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Previous State (Unchanged)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No Clock Event: Changes on inputs ignored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F90CB-0BD4-214C-905F-17994270D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D9488"/>
                </a:solidFill>
                <a:latin typeface="+mn-lt"/>
                <a:ea typeface="+mn-ea"/>
                <a:cs typeface="+mn-cs"/>
              </a:rPr>
              <a:t>Real Life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922F4-BE4D-CFA4-5290-2FDE965A7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120284" cy="4525963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CPU Internal Storage:</a:t>
            </a:r>
            <a:r>
              <a:rPr lang="en-US" dirty="0">
                <a:solidFill>
                  <a:schemeClr val="bg1"/>
                </a:solidFill>
              </a:rPr>
              <a:t> Holds temporary math results and instruction codes inside processors.</a:t>
            </a:r>
          </a:p>
          <a:p>
            <a:pPr lvl="0"/>
            <a:r>
              <a:rPr lang="en-US" b="1" dirty="0">
                <a:solidFill>
                  <a:schemeClr val="bg1"/>
                </a:solidFill>
              </a:rPr>
              <a:t>Hardware State Machines: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Memorises</a:t>
            </a:r>
            <a:r>
              <a:rPr lang="en-US" dirty="0">
                <a:solidFill>
                  <a:schemeClr val="bg1"/>
                </a:solidFill>
              </a:rPr>
              <a:t> the current status of traffic lights and automated industrial machines.</a:t>
            </a:r>
          </a:p>
          <a:p>
            <a:pPr lvl="0"/>
            <a:r>
              <a:rPr lang="en-US" b="1" dirty="0">
                <a:solidFill>
                  <a:schemeClr val="bg1"/>
                </a:solidFill>
              </a:rPr>
              <a:t>Data Bus Buffering:</a:t>
            </a:r>
            <a:r>
              <a:rPr lang="en-US" dirty="0">
                <a:solidFill>
                  <a:schemeClr val="bg1"/>
                </a:solidFill>
              </a:rPr>
              <a:t> Acts as a temporary staging area for data sent to keyboards and printers.</a:t>
            </a:r>
          </a:p>
          <a:p>
            <a:pPr lvl="0"/>
            <a:r>
              <a:rPr lang="en-US" b="1" dirty="0">
                <a:solidFill>
                  <a:schemeClr val="bg1"/>
                </a:solidFill>
              </a:rPr>
              <a:t>High-Speed Cache (SRAM):</a:t>
            </a:r>
            <a:r>
              <a:rPr lang="en-US" dirty="0">
                <a:solidFill>
                  <a:schemeClr val="bg1"/>
                </a:solidFill>
              </a:rPr>
              <a:t> Serves as the core building block for fast, volatile computer memory.</a:t>
            </a:r>
          </a:p>
          <a:p>
            <a:pPr lvl="0"/>
            <a:r>
              <a:rPr lang="en-US" b="1" dirty="0">
                <a:solidFill>
                  <a:schemeClr val="bg1"/>
                </a:solidFill>
              </a:rPr>
              <a:t>Digital Signal Processing:</a:t>
            </a:r>
            <a:r>
              <a:rPr lang="en-US" dirty="0">
                <a:solidFill>
                  <a:schemeClr val="bg1"/>
                </a:solidFill>
              </a:rPr>
              <a:t> Captures and holds audio or video samples for step-by-step editing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917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692</Words>
  <Application>Microsoft Office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Working Principle</vt:lpstr>
      <vt:lpstr>PowerPoint Presentation</vt:lpstr>
      <vt:lpstr>PowerPoint Presentation</vt:lpstr>
      <vt:lpstr>PowerPoint Presentation</vt:lpstr>
      <vt:lpstr>Real Life Applications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Pavan Kumar Muddana</cp:lastModifiedBy>
  <cp:revision>2</cp:revision>
  <dcterms:created xsi:type="dcterms:W3CDTF">2013-01-27T09:14:16Z</dcterms:created>
  <dcterms:modified xsi:type="dcterms:W3CDTF">2026-10-14T16:16:51Z</dcterms:modified>
  <cp:category/>
</cp:coreProperties>
</file>